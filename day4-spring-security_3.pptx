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Yesterday: Author, Book, Loan. Today the same app gets users, roles, tokens, and eyes on it in production. Every topic opens with a definition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day: same three entities, plus three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 slide. The key mental shift: security runs BEFORE your controller, as a chain — not as code you call inside a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CSRF comment: disabling is right for a stateless token API and wrong for a session-based app. Say this out loud — it is the most copy-pasted line in Spring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401 vs 403 is the fastest way to check the room understands the distinction. Ask before revealing.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ROLE_ prefix trap: hasRole('MEMBER') vs hasAuthority('ROLE_MEMBER'). Show both, show the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the jwt.io paste live. The room's reaction to reading the payload in plain text is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three-step flow, then the trade box. Revocation is the honest weakness of JWT — do not gloss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 slide. The boiler-dashboard analogy does the work: useful gauge, wrong thing to bolt to the street.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/env locally with a fake password property — the value is right there. That ends the argument about exposing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400-books-out-none-back line usually gets the laugh and makes the logs-vs-monitoring distinction stick.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MDC demo: one correlation id threaded through five log lines across two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same-building analogy. Then the secrets warning — this is the one people get wrong in a hurry before a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in the room has shipped seed data to prod once. Say so — it buys honesty for the rest of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as economics, not taste. Tier 1 mistakes fail in review. Tier 3 mistakes fail in production, on a Saturday.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as a checklist against their own codebase. The ROLE_ prefix row always gets a reaction.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self-invocation row is the one to demo live — it is invisible in review and total in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how many of you could rotate your JWT signing key today, without downtime? The silence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brief: secure yesterday's app end to end. Pass criterion: no endpoint reachable anonymously except /health.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2C5F2D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3108960" cy="3108960"/>
          </a:xfrm>
          <a:prstGeom prst="ellipse">
            <a:avLst/>
          </a:prstGeom>
          <a:solidFill>
            <a:srgbClr val="97BC6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Security &amp;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library — now it needs to know who is borrowing.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topic: a definition slide, then how it works.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left off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API works. Anyone can call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the domain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→ Book → Loan</a:t>
            </a:r>
            <a:endParaRPr lang="en-US" sz="1300" dirty="0"/>
          </a:p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BookRepository, LoanService.lend(...)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 boundaries in the service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64592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1A2E1B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7830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— the questions it can't answer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19456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calling lend()?</a:t>
            </a:r>
            <a:endParaRPr lang="en-US" sz="1300" dirty="0"/>
          </a:p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a member delete a Book, or only a librarian?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app healthy? Who noticed it wasn't?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4251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46177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and return. Read the catalogue.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43400" y="411480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4251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LIBRARIAN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99432" y="46177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member can, plus add and remove books.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411480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4251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02752" y="46177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person — the ops role that reads health and metrics.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5321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roles, one API. Every access rule today is expressed against these.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A2E1B"/>
          </a:solidFill>
          <a:ln/>
        </p:spPr>
      </p:sp>
      <p:sp>
        <p:nvSpPr>
          <p:cNvPr id="3" name="Shape 1"/>
          <p:cNvSpPr/>
          <p:nvPr/>
        </p:nvSpPr>
        <p:spPr>
          <a:xfrm>
            <a:off x="3566160" y="-1188720"/>
            <a:ext cx="3108960" cy="3108960"/>
          </a:xfrm>
          <a:prstGeom prst="ellipse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· 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Security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 in front of your app.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8346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that intercepts every request before it reaches your code, establishes who is making it, and decides whether they are allowed. It is a chain of filters, not a library you call.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89204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10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8D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library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52852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at the library door. Everyone passes him before they reach a shelf — including staff.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8229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has to get through the chain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0" y="1325880"/>
            <a:ext cx="5852160" cy="749808"/>
          </a:xfrm>
          <a:prstGeom prst="roundRect">
            <a:avLst>
              <a:gd name="adj" fmla="val 7317"/>
            </a:avLst>
          </a:prstGeom>
          <a:solidFill>
            <a:srgbClr val="F0F3F0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132588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arrives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32520" y="132588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/api/books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rot="10800000">
            <a:off x="8458200" y="2093976"/>
            <a:ext cx="274320" cy="118872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0" y="2286000"/>
            <a:ext cx="5852160" cy="749808"/>
          </a:xfrm>
          <a:prstGeom prst="roundRect">
            <a:avLst>
              <a:gd name="adj" fmla="val 7317"/>
            </a:avLst>
          </a:prstGeom>
          <a:solidFill>
            <a:srgbClr val="F0F3F0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228600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chain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32520" y="228600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of small checks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 rot="10800000">
            <a:off x="8458200" y="3054096"/>
            <a:ext cx="274320" cy="118872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0" y="3246120"/>
            <a:ext cx="5852160" cy="749808"/>
          </a:xfrm>
          <a:prstGeom prst="roundRect">
            <a:avLst>
              <a:gd name="adj" fmla="val 731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324612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filter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32520" y="324612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identity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rot="10800000">
            <a:off x="8458200" y="4014216"/>
            <a:ext cx="274320" cy="118872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0" y="4206240"/>
            <a:ext cx="5852160" cy="749808"/>
          </a:xfrm>
          <a:prstGeom prst="roundRect">
            <a:avLst>
              <a:gd name="adj" fmla="val 731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420624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check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732520" y="420624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role to rule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 rot="10800000">
            <a:off x="8458200" y="4974336"/>
            <a:ext cx="274320" cy="118872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0" y="5166360"/>
            <a:ext cx="5852160" cy="749808"/>
          </a:xfrm>
          <a:prstGeom prst="roundRect">
            <a:avLst>
              <a:gd name="adj" fmla="val 7317"/>
            </a:avLst>
          </a:prstGeom>
          <a:solidFill>
            <a:srgbClr val="F0F3F0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516636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controller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732520" y="516636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code runs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69280" y="61722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green steps are the whole of security. Everything else is plumbing.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— Spring Security Fundamentals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the chain for the library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852160" cy="676656"/>
          </a:xfrm>
          <a:prstGeom prst="roundRect">
            <a:avLst>
              <a:gd name="adj" fmla="val 8108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606040" y="1645920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/api/books  ·  Authorization: Bearer ...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rot="10800000">
            <a:off x="3429000" y="2340864"/>
            <a:ext cx="237744" cy="82296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432304"/>
            <a:ext cx="5852160" cy="676656"/>
          </a:xfrm>
          <a:prstGeom prst="roundRect">
            <a:avLst>
              <a:gd name="adj" fmla="val 8108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432304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chain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606040" y="2432304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filter inspects, then passes it 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10800000">
            <a:off x="3429000" y="3127248"/>
            <a:ext cx="237744" cy="82296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218688"/>
            <a:ext cx="5852160" cy="676656"/>
          </a:xfrm>
          <a:prstGeom prst="roundRect">
            <a:avLst>
              <a:gd name="adj" fmla="val 8108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18688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606040" y="3218688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you? → an Authentication object.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rot="10800000">
            <a:off x="3429000" y="3913632"/>
            <a:ext cx="237744" cy="82296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4005072"/>
            <a:ext cx="5852160" cy="676656"/>
          </a:xfrm>
          <a:prstGeom prst="roundRect">
            <a:avLst>
              <a:gd name="adj" fmla="val 8108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005072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606040" y="4005072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you? → checked against authorities.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rot="10800000">
            <a:off x="3429000" y="4700016"/>
            <a:ext cx="237744" cy="82296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4791456"/>
            <a:ext cx="5852160" cy="676656"/>
          </a:xfrm>
          <a:prstGeom prst="roundRect">
            <a:avLst>
              <a:gd name="adj" fmla="val 8108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791456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606040" y="4791456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reached if both passed.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12280" y="1645920"/>
            <a:ext cx="4709160" cy="3931920"/>
          </a:xfrm>
          <a:prstGeom prst="roundRect">
            <a:avLst>
              <a:gd name="adj" fmla="val 1395"/>
            </a:avLst>
          </a:prstGeom>
          <a:solidFill>
            <a:srgbClr val="1A2E1B"/>
          </a:solidFill>
          <a:ln/>
        </p:spPr>
      </p:sp>
      <p:sp>
        <p:nvSpPr>
          <p:cNvPr id="24" name="Text 22"/>
          <p:cNvSpPr/>
          <p:nvPr/>
        </p:nvSpPr>
        <p:spPr>
          <a:xfrm>
            <a:off x="7013448" y="1773936"/>
            <a:ext cx="4306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SECURITYCONFIG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013448" y="2057400"/>
            <a:ext cx="430682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SecurityFilterChain chain(HttpSecurity http)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throws Exception {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http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disable CSRF only because this API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is stateless + token-based: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.csrf(csrf -&gt; csrf.disable())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.authorizeHttpRequests(a -&gt; a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.requestMatchers("/api/books/**")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.hasRole("MEMBER")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.anyRequest().authenticated())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.sessionManagement(sm -&gt; sm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.sessionCreationPolicy(STATELESS))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.build();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" y="57150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SecurityContextHolder holds the current Authentication. Nothing else needs to pass the user around.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A2E1B"/>
          </a:solidFill>
          <a:ln/>
        </p:spPr>
      </p:sp>
      <p:sp>
        <p:nvSpPr>
          <p:cNvPr id="3" name="Shape 1"/>
          <p:cNvSpPr/>
          <p:nvPr/>
        </p:nvSpPr>
        <p:spPr>
          <a:xfrm>
            <a:off x="3566160" y="-1188720"/>
            <a:ext cx="3108960" cy="3108960"/>
          </a:xfrm>
          <a:prstGeom prst="ellipse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· 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Authorization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questions, always in that order.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8346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establishes identity — proving you are who you claim. Authorization decides permission — whether that identity may perform this action. One can succeed while the other fails.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89204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10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8D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library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52852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your library card proves you are Anna. It does not make you a librarian.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8229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door, two checks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0" y="1325880"/>
            <a:ext cx="2834640" cy="3200400"/>
          </a:xfrm>
          <a:prstGeom prst="roundRect">
            <a:avLst>
              <a:gd name="adj" fmla="val 258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1463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C8D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9788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you?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897880" y="2377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+ PIN, or a token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897880" y="30175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D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Fails → 401 Unauthorized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97880" y="33649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logged in.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0" y="1325880"/>
            <a:ext cx="2834640" cy="3200400"/>
          </a:xfrm>
          <a:prstGeom prst="roundRect">
            <a:avLst>
              <a:gd name="adj" fmla="val 2581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1463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1540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you do this?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915400" y="2377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 vs the rule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15400" y="30175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Fails → 403 Forbidden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15400" y="33649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known, but not allowed.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0" y="4754880"/>
            <a:ext cx="5852160" cy="1234440"/>
          </a:xfrm>
          <a:prstGeom prst="roundRect">
            <a:avLst>
              <a:gd name="adj" fmla="val 5926"/>
            </a:avLst>
          </a:prstGeom>
          <a:solidFill>
            <a:srgbClr val="F0F3F0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48737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 is authenticated but not authorized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897880" y="5193792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logs in fine — the token is valid, the app knows her. She calls DELETE /api/books/42 and gets 403. That is the system working, not a bug.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— Authentication and Authorization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both into the library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— who are you?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1A2E1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313432"/>
            <a:ext cx="503834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UserDetailsService users(BorrowerRepo repo) {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email -&gt; repo.findByEmail(email)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.map(BorrowerPrincipal::new)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.orElseThrow(() -&gt;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 UsernameNotFoundException(email));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 PasswordEncoder enc() {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new BCryptPasswordEncoder();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55080" y="1600200"/>
            <a:ext cx="5166360" cy="45720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— may you?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2148840"/>
            <a:ext cx="5166360" cy="2103120"/>
          </a:xfrm>
          <a:prstGeom prst="roundRect">
            <a:avLst>
              <a:gd name="adj" fmla="val 2609"/>
            </a:avLst>
          </a:prstGeom>
          <a:solidFill>
            <a:srgbClr val="1A2E1B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2313432"/>
            <a:ext cx="476402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@PreAuthorize("hasRole('LIBRARIAN')")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removeBook(Long id) { ... }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@PreAuthorize("hasRole('MEMBER')")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lend(String isbn) { ... }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only your own loans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@PostAuthorize("returnObject.borrower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== authentication.name")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 getLoan(Long id) { ... }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48056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4572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store a raw password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" y="487375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or Argon2. The encoder is a bean, not a utility class.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55080" y="448056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4572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vs authorities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11112" y="487375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hasRole('MEMBER') looks for the authority ROLE_MEMBER. The prefix bites everyone once.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56235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method security with @EnableMethodSecurity — otherwise @PreAuthorize is a decorative annotation.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A2E1B"/>
          </a:solidFill>
          <a:ln/>
        </p:spPr>
      </p:sp>
      <p:sp>
        <p:nvSpPr>
          <p:cNvPr id="3" name="Shape 1"/>
          <p:cNvSpPr/>
          <p:nvPr/>
        </p:nvSpPr>
        <p:spPr>
          <a:xfrm>
            <a:off x="3566160" y="-1188720"/>
            <a:ext cx="3108960" cy="3108960"/>
          </a:xfrm>
          <a:prstGeom prst="ellipse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· 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signed note the server need not remember.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8346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JSON Web Token is a small, self-contained claim about who you are, signed by the server. Because the signature proves it wasn't altered, the server can trust it without storing a session.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89204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10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8D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library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52852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pass stamped at the desk. The guard checks the stamp, not a guest list — but he cannot un-issue it once you walk away.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8229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Signed, not secret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0" y="1325880"/>
            <a:ext cx="5852160" cy="1115568"/>
          </a:xfrm>
          <a:prstGeom prst="roundRect">
            <a:avLst>
              <a:gd name="adj" fmla="val 4918"/>
            </a:avLst>
          </a:prstGeom>
          <a:solidFill>
            <a:srgbClr val="1A2E1B"/>
          </a:solidFill>
          <a:ln/>
        </p:spPr>
      </p:sp>
      <p:sp>
        <p:nvSpPr>
          <p:cNvPr id="14" name="Text 12"/>
          <p:cNvSpPr/>
          <p:nvPr/>
        </p:nvSpPr>
        <p:spPr>
          <a:xfrm>
            <a:off x="5897880" y="14356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97880" y="172821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alg: HS256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235440" y="1325880"/>
            <a:ext cx="2103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signed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0" y="2404872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</a:rPr>
              <a:t>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669280" y="2624328"/>
            <a:ext cx="5852160" cy="1115568"/>
          </a:xfrm>
          <a:prstGeom prst="roundRect">
            <a:avLst>
              <a:gd name="adj" fmla="val 4918"/>
            </a:avLst>
          </a:prstGeom>
          <a:solidFill>
            <a:srgbClr val="1A2E1B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27340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97880" y="302666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sub: anna@lib.nl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roles: [MEMBER]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exp: +15 min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235440" y="2624328"/>
            <a:ext cx="2103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Who, what, until when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669280" y="370332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</a:rPr>
              <a:t>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669280" y="3922776"/>
            <a:ext cx="5852160" cy="1115568"/>
          </a:xfrm>
          <a:prstGeom prst="roundRect">
            <a:avLst>
              <a:gd name="adj" fmla="val 4918"/>
            </a:avLst>
          </a:prstGeom>
          <a:solidFill>
            <a:srgbClr val="1A2E1B"/>
          </a:solidFill>
          <a:ln/>
        </p:spPr>
      </p:sp>
      <p:sp>
        <p:nvSpPr>
          <p:cNvPr id="24" name="Text 22"/>
          <p:cNvSpPr/>
          <p:nvPr/>
        </p:nvSpPr>
        <p:spPr>
          <a:xfrm>
            <a:off x="5897880" y="40325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97880" y="43251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HMAC(header.payload, key)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235440" y="3922776"/>
            <a:ext cx="2103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no tampering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0" y="5257800"/>
            <a:ext cx="5852160" cy="1143000"/>
          </a:xfrm>
          <a:prstGeom prst="roundRect">
            <a:avLst>
              <a:gd name="adj" fmla="val 6400"/>
            </a:avLst>
          </a:prstGeom>
          <a:solidFill>
            <a:srgbClr val="F0F3F0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53675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read the payload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897880" y="566928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is encoding, not encryption. Paste any token into jwt.io and the claims read back in plain text. Sign it — never hide anything in it.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— JWT Authentication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filter, and the trade you accept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400800" cy="2377440"/>
          </a:xfrm>
          <a:prstGeom prst="roundRect">
            <a:avLst>
              <a:gd name="adj" fmla="val 2308"/>
            </a:avLst>
          </a:prstGeom>
          <a:solidFill>
            <a:srgbClr val="1A2E1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773936"/>
            <a:ext cx="5998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JWTAUTHFILTER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1248" y="2057400"/>
            <a:ext cx="59984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runs before the username/password filter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token = header.substring(7);      // strip 'Bearer '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Claims c = jwt.parse(token);             // throws if tampered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auth = new UsernamePasswordAuthenticationToken(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c.getSubject(), null, rolesOf(c));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SecurityContextHolder.getContext()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.setAuthentication(auth);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60920" y="1645920"/>
            <a:ext cx="4160520" cy="237744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16952" y="1764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16952" y="2103120"/>
            <a:ext cx="3703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session to scale or replicate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you cannot revoke before it expires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keep it short — 15 min + refresh token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the signing key; keep it out of git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25196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43708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46817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  →  token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160520" y="4709160"/>
            <a:ext cx="146304" cy="256032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425196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599432" y="43708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9432" y="46817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 on every request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rot="5400000">
            <a:off x="4160520" y="4709160"/>
            <a:ext cx="146304" cy="256032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0" y="425196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8302752" y="43708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02752" y="46817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later, refresh or re-login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54864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stolen token is a valid token until it expires. That is the price of statelessness — pay it knowingly.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A2E1B"/>
          </a:solidFill>
          <a:ln/>
        </p:spPr>
      </p:sp>
      <p:sp>
        <p:nvSpPr>
          <p:cNvPr id="3" name="Shape 1"/>
          <p:cNvSpPr/>
          <p:nvPr/>
        </p:nvSpPr>
        <p:spPr>
          <a:xfrm>
            <a:off x="3566160" y="-1188720"/>
            <a:ext cx="3108960" cy="3108960"/>
          </a:xfrm>
          <a:prstGeom prst="ellipse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· 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Actuator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endpoints about the app itself.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8346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module that exposes the running application's own state over HTTP — health, metrics, config, log levels — without you writing a line of it. Production plumbing, shipped in the box.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89204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10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8D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library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52852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on the library's boiler. It tells you the pressure and the temperature — and you would not mount it on the street.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8229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app, describing itself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0" y="1325880"/>
            <a:ext cx="5852160" cy="841248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14173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897880" y="174650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or DOWN, plus the DB check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63840" y="141732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4F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polls this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0" y="2331720"/>
            <a:ext cx="5852160" cy="841248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24231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/metrics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897880" y="275234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JVM, HTTP, pool, custom counters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63840" y="242316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4F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scrapes this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0" y="3337560"/>
            <a:ext cx="5852160" cy="841248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34290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/info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897880" y="375818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version, git commit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63840" y="342900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4F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'Which build is live?'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0" y="4343400"/>
            <a:ext cx="5852160" cy="841248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44348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/loggers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897880" y="476402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+ change log levels live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63840" y="443484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4F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prod, no redeploy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0" y="5440680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1A2E1B"/>
          </a:solidFill>
          <a:ln/>
        </p:spPr>
      </p:sp>
      <p:sp>
        <p:nvSpPr>
          <p:cNvPr id="30" name="Text 28"/>
          <p:cNvSpPr/>
          <p:nvPr/>
        </p:nvSpPr>
        <p:spPr>
          <a:xfrm>
            <a:off x="5897880" y="557784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Convenient for you is convenient for an attacker. Expose the two you need, authenticate the rest.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— Spring Boot Actuator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it on without opening a door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1920240"/>
          </a:xfrm>
          <a:prstGeom prst="roundRect">
            <a:avLst>
              <a:gd name="adj" fmla="val 2857"/>
            </a:avLst>
          </a:prstGeom>
          <a:solidFill>
            <a:srgbClr val="1A2E1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773936"/>
            <a:ext cx="10479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APPLICATION.YML + SECURITYCONFIG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1248" y="2057400"/>
            <a:ext cx="10479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management.endpoints.web.exposure.include: health,info,metrics,prometheus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management.endpoint.health.show-details: when-authorized     # not 'always'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management.endpoints.web.base-path: /internal                # off the obvious path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then lock it in the filter chain — actuator is surface, not a free gift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http.requestMatchers("/internal/health").permitAll()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.requestMatchers("/internal/**").hasRole("ACTUATOR")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3913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to open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42245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for the load balancer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482803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permitAll — it must answer before login exists.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37947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3913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99432" y="42245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for Prometheus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99432" y="482803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hasRole('ACTUATOR') + network policy.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37947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3913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shut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02752" y="42245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/env, /heapdump, /threaddump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02752" y="482803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values and memory contents. Never public.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6235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exposure is health and info. The day someone writes '*' in that list, you have an incident waiting.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A2E1B"/>
          </a:solidFill>
          <a:ln/>
        </p:spPr>
      </p:sp>
      <p:sp>
        <p:nvSpPr>
          <p:cNvPr id="3" name="Shape 1"/>
          <p:cNvSpPr/>
          <p:nvPr/>
        </p:nvSpPr>
        <p:spPr>
          <a:xfrm>
            <a:off x="3566160" y="-1188720"/>
            <a:ext cx="3108960" cy="3108960"/>
          </a:xfrm>
          <a:prstGeom prst="ellipse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·  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 &amp;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and the alarm that reads 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8346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records what happened, one event at a time, in text you can search. Monitoring aggregates those events and measurements into a live picture — and tells someone when it changes shape.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89204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10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8D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library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52852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loan register records each book that leaves. Monitoring is noticing that 400 left this hour and none came back.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8229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one question each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0" y="1325880"/>
            <a:ext cx="5852160" cy="1188720"/>
          </a:xfrm>
          <a:prstGeom prst="roundRect">
            <a:avLst>
              <a:gd name="adj" fmla="val 4615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1435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D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69480" y="1435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97880" y="176479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book_lent isbn=978… durationMs=42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97880" y="209397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Words. Searchable. One event per line.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0" y="2697480"/>
            <a:ext cx="5852160" cy="118872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2807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69480" y="28072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much, how fast?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97880" y="313639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library.loans  ·  http.server.requests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97880" y="346557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F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over time. Cheap to keep.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0" y="4069080"/>
            <a:ext cx="5852160" cy="118872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4178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69480" y="41788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the time go?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97880" y="450799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/loans → DB 38ms → mail 210ms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97880" y="483717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F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request, across services.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0" y="5486400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1A2E1B"/>
          </a:solidFill>
          <a:ln/>
        </p:spPr>
      </p:sp>
      <p:sp>
        <p:nvSpPr>
          <p:cNvPr id="29" name="Text 27"/>
          <p:cNvSpPr/>
          <p:nvPr/>
        </p:nvSpPr>
        <p:spPr>
          <a:xfrm>
            <a:off x="5897880" y="562356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 line nobody can search is a wasted line. A metric nobody alerts on is a wasted metric.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— Logging and Monitoring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lines your future self can search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035040" cy="2514600"/>
          </a:xfrm>
          <a:prstGeom prst="roundRect">
            <a:avLst>
              <a:gd name="adj" fmla="val 2182"/>
            </a:avLst>
          </a:prstGeom>
          <a:solidFill>
            <a:srgbClr val="1A2E1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810512"/>
            <a:ext cx="5632704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bad — unsearchable, and it leaks the borrower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log.info("lend ok for " + email + " " + isbn);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good — structured, correlatable, no PII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MDC.put("loanId", loan.getId().toString());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log.info("book_lent isbn={} durationMs={}",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isbn, elapsed);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and a number you can alert on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meterRegistry.counter("library.loans").increment();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95160" y="1737360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699516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43800" y="166420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43800" y="199339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 id in MDC, threaded through every line and every service.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95160" y="2606040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699516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43800" y="25328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with intent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43800" y="286207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means someone is paged. INFO is the story. DEBUG is off in prod.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95160" y="3474720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699516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43800" y="34015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symptoms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43800" y="373075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failing, not 'CPU at 80%'. Users feel symptoms.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3891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A2E1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526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846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· full JWTs · borrower email or address · anything you would have to explain to a DPO. Log the loan id and join to the data later — that is what the id is for.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A2E1B"/>
          </a:solidFill>
          <a:ln/>
        </p:spPr>
      </p:sp>
      <p:sp>
        <p:nvSpPr>
          <p:cNvPr id="3" name="Shape 1"/>
          <p:cNvSpPr/>
          <p:nvPr/>
        </p:nvSpPr>
        <p:spPr>
          <a:xfrm>
            <a:off x="3566160" y="-1188720"/>
            <a:ext cx="3108960" cy="3108960"/>
          </a:xfrm>
          <a:prstGeom prst="ellipse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·  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jar that behaves differently by environment.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8346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set of configuration and beans that Spring activates by environment. The same artifact you tested is the one you ship — only the config it loads changes.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89204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10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8D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library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52852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library building. On a school morning it runs as a classroom; at night, a reading room. Same building, different rules.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8229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jar, three environments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0" y="1325880"/>
            <a:ext cx="5852160" cy="685800"/>
          </a:xfrm>
          <a:prstGeom prst="roundRect">
            <a:avLst>
              <a:gd name="adj" fmla="val 8000"/>
            </a:avLst>
          </a:prstGeom>
          <a:solidFill>
            <a:srgbClr val="1A2E1B"/>
          </a:solidFill>
          <a:ln/>
        </p:spPr>
      </p:sp>
      <p:sp>
        <p:nvSpPr>
          <p:cNvPr id="14" name="Text 12"/>
          <p:cNvSpPr/>
          <p:nvPr/>
        </p:nvSpPr>
        <p:spPr>
          <a:xfrm>
            <a:off x="5897880" y="13258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library-1.4.0.jar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41080" y="13258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once, never rebuilt per env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rot="10800000">
            <a:off x="6858000" y="2057400"/>
            <a:ext cx="256032" cy="146304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17" name="Shape 15"/>
          <p:cNvSpPr/>
          <p:nvPr/>
        </p:nvSpPr>
        <p:spPr>
          <a:xfrm rot="10800000">
            <a:off x="8805672" y="2057400"/>
            <a:ext cx="256032" cy="146304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18" name="Shape 16"/>
          <p:cNvSpPr/>
          <p:nvPr/>
        </p:nvSpPr>
        <p:spPr>
          <a:xfrm rot="10800000">
            <a:off x="10753344" y="2057400"/>
            <a:ext cx="256032" cy="146304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0" y="2331720"/>
            <a:ext cx="1783080" cy="182880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24505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52160" y="28346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in memory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show-sql on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logging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616952" y="2331720"/>
            <a:ext cx="1783080" cy="182880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99832" y="24505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99832" y="28346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create-drop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clock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564624" y="2331720"/>
            <a:ext cx="1783080" cy="1828800"/>
          </a:xfrm>
          <a:prstGeom prst="roundRect">
            <a:avLst>
              <a:gd name="adj" fmla="val 307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47504" y="24505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47504" y="28346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Oracle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only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logs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0" y="4389120"/>
            <a:ext cx="5852160" cy="1874520"/>
          </a:xfrm>
          <a:prstGeom prst="roundRect">
            <a:avLst>
              <a:gd name="adj" fmla="val 3902"/>
            </a:avLst>
          </a:prstGeom>
          <a:solidFill>
            <a:srgbClr val="F0F3F0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45079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profile is not a secret store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897880" y="4828032"/>
            <a:ext cx="5440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profile decides which config loads. It does not make a committed password safe — application-prod.yml is in the same git history as everything else. Keys come from the environment or a vault, in every profile.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— Application Profiles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Activating them, and keeping prod boring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035040" cy="2286000"/>
          </a:xfrm>
          <a:prstGeom prst="roundRect">
            <a:avLst>
              <a:gd name="adj" fmla="val 2400"/>
            </a:avLst>
          </a:prstGeom>
          <a:solidFill>
            <a:srgbClr val="1A2E1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810512"/>
            <a:ext cx="5632704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@Profile("!prod")     // seed data, never in production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 CommandLineRunner seed(BookRepo repo) { ... }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application-prod.yml overrides application.yml, key by key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activate: SPRING_PROFILES_ACTIVE=prod java -jar library.jar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@ConfigurationProperties("library")   // typed, validated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LibraryProps(@Min(1) int maxLoans, Duration jwtTtl) {}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95160" y="1645920"/>
            <a:ext cx="4526280" cy="2286000"/>
          </a:xfrm>
          <a:prstGeom prst="roundRect">
            <a:avLst>
              <a:gd name="adj" fmla="val 3200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51192" y="17647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that keep this sane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51192" y="2103120"/>
            <a:ext cx="4069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in application.yml; profiles override only what differs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activate a profile from inside the jar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at boot on missing config, not at 03:00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the prod profile shape, not dev's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160520"/>
            <a:ext cx="10881360" cy="411480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160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to production by someone, once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0" y="4160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645152"/>
            <a:ext cx="10881360" cy="475488"/>
          </a:xfrm>
          <a:prstGeom prst="roundRect">
            <a:avLst>
              <a:gd name="adj" fmla="val 9615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645152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 in prod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464515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@Profile("!prod") on the runner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193792"/>
            <a:ext cx="10881360" cy="475488"/>
          </a:xfrm>
          <a:prstGeom prst="roundRect">
            <a:avLst>
              <a:gd name="adj" fmla="val 9615"/>
            </a:avLst>
          </a:prstGeom>
          <a:solidFill>
            <a:srgbClr val="F0F3F0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193792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in application-prod.yml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0" y="519379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${DB_PASSWORD} from the environment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742432"/>
            <a:ext cx="10881360" cy="475488"/>
          </a:xfrm>
          <a:prstGeom prst="roundRect">
            <a:avLst>
              <a:gd name="adj" fmla="val 9615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742432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ddl-auto: update in prod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0" y="574243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 Flyway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A2E1B"/>
          </a:solidFill>
          <a:ln/>
        </p:spPr>
      </p:sp>
      <p:sp>
        <p:nvSpPr>
          <p:cNvPr id="3" name="Shape 1"/>
          <p:cNvSpPr/>
          <p:nvPr/>
        </p:nvSpPr>
        <p:spPr>
          <a:xfrm>
            <a:off x="3566160" y="-1188720"/>
            <a:ext cx="3108960" cy="3108960"/>
          </a:xfrm>
          <a:prstGeom prst="ellipse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·  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that stay cheap at scale.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8346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style rules. These are the choices whose cost only appears later — in the test suite, the incident, the upgrade. Cheap to adopt now, expensive to retrofit. They arrive in three waves as a codebase grows.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89204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10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8D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library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52852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Shelving by a system. Any librarian finds a book on day one — and still can when the collection has tripled.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8229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 — adopt in this order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0" y="1325880"/>
            <a:ext cx="585216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1463040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589788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1453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23960" y="14538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you a code review.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46520" y="17830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and structure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2148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injection · DTOs · typed config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2898648"/>
            <a:ext cx="5852160" cy="1371600"/>
          </a:xfrm>
          <a:prstGeom prst="roundRect">
            <a:avLst>
              <a:gd name="adj" fmla="val 5333"/>
            </a:avLst>
          </a:prstGeom>
          <a:solidFill>
            <a:srgbClr val="F0F3F0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3035808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5897880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30266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823960" y="3026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you an afternoon.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46520" y="33558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under load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46520" y="37216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· exceptions · test slices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0" y="4471416"/>
            <a:ext cx="5852160" cy="1371600"/>
          </a:xfrm>
          <a:prstGeom prst="roundRect">
            <a:avLst>
              <a:gd name="adj" fmla="val 5333"/>
            </a:avLst>
          </a:prstGeom>
          <a:solidFill>
            <a:srgbClr val="1A2E1B"/>
          </a:solidFill>
          <a:ln w="12700">
            <a:solidFill>
              <a:srgbClr val="1A2E1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4608576"/>
            <a:ext cx="420624" cy="42062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9" name="Text 27"/>
          <p:cNvSpPr/>
          <p:nvPr/>
        </p:nvSpPr>
        <p:spPr>
          <a:xfrm>
            <a:off x="5897880" y="4608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46520" y="4599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823960" y="4599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9AA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you an incident.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46520" y="492861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under stress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46520" y="529437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· caching · observability · secrets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69280" y="61264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mistakes get quieter as you climb. Basic ones fail loudly; advanced ones fail at 03:00.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— Basic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and structure. Adopt these before anything else.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411480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 ·  costs you a code review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bites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450592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505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injection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24505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@Autowired on fields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12480" y="24505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deps; tests need reflection.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026664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0F3F0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0266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at the boundary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0" y="302666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Book from a controller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302666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proxy serializes, or leaks columns.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02736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027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@ConfigurationProperties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0" y="360273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@Value("${...}") everywhere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0" y="36027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 found at runtime, not boot.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178808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0F3F0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1788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via a bean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0" y="41788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BCryptPasswordEncoder() inline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0" y="41788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encoders, one silent mismatch.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754880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754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hasRole('MEMBER')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0" y="4754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hasAuthority('MEMBER')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ROLE_ prefix — everyone once.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330952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0F3F0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3309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with placeholders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0" y="53309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concat in log.info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412480" y="53309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Unsearchable, and it builds when off.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caught by a reviewer who knows to look. That is what makes them basic — not that they are harmless.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— Intermediate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under load. These show up once the app has users.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411480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 ·  costs you an afternoon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bites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450592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505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 on the service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24505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repository, or on a private method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12480" y="24505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Self-invocation skips the proxy. No tx.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026664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0F3F0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0266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 on the service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0" y="302666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if-check in the controller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302666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caller forgets the check.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02736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027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@ControllerAdvice for errors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0" y="360273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trace straight to the client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0" y="36027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Leaks class names and SQL to attackers.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178808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0F3F0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1788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@DataJpaTest / @WebMvcTest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0" y="41788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@SpringBootTest for everything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0" y="41788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4-minute suite nobody runs.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754880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754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readOnly = true on reads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0" y="4754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method fully transactional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Dirty-check cost on every catalogue call.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330952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0F3F0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3309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 at the edge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0" y="53309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the JSON body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412480" y="53309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data reaches the entity.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pass code review. They fail the first time two users do the same thing at once.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— Advanced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under stress. These fail quietly, at the worst hour.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411480"/>
          </a:xfrm>
          <a:prstGeom prst="roundRect">
            <a:avLst>
              <a:gd name="adj" fmla="val 11111"/>
            </a:avLst>
          </a:prstGeom>
          <a:solidFill>
            <a:srgbClr val="1A2E1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 ·  costs you an incident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bites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450592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505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from a vault or env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24505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in application-prod.yml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12480" y="24505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in git history forever.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026664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0F3F0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0266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JWT + refresh token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0" y="302666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token, blocklist 'later'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302666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stolen token is valid all day.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02736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027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behind a role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0" y="360273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exposure.include: '*'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0" y="36027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/env and /heapdump hand over config.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178808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0F3F0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1788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 on every call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0" y="41788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= wait forever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0" y="41788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slow dependency saturates the pool.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754880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754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symptoms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0" y="4754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CPU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feel failed loans, not CPU.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330952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0F3F0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3309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the signing key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0" y="53309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key, since 2019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412480" y="53309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untested = never possible.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catches these in review. You catch them in a postmortem — or you decide them now, on purpose.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291840"/>
            <a:ext cx="4754880" cy="4754880"/>
          </a:xfrm>
          <a:prstGeom prst="ellipse">
            <a:avLst/>
          </a:prstGeom>
          <a:solidFill>
            <a:srgbClr val="2C5F2D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097280"/>
            <a:ext cx="3840480" cy="3840480"/>
          </a:xfrm>
          <a:prstGeom prst="ellipse">
            <a:avLst/>
          </a:prstGeom>
          <a:solidFill>
            <a:srgbClr val="97BC6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1856232"/>
            <a:ext cx="402336" cy="40233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a filter chain, not a checklist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16712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runs before your controller, and in what order.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724912"/>
            <a:ext cx="402336" cy="40233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2651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once, authorize everywhere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54480" y="303580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 on the service, not an if-statement in the controller.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593592"/>
            <a:ext cx="402336" cy="40233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593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3520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you cannot revoke must be short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54480" y="39044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 plus a refresh token beats a clever blocklist.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4462272"/>
            <a:ext cx="402336" cy="40233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462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4389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deliberately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54480" y="47731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Actuator, logs, and stack traces are all attack surface.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5330952"/>
            <a:ext cx="402336" cy="40233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330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5257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 the tiers on purpose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54480" y="56418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fails in review. Advanced fails at 03:00 — decide it now.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lock down the library — roles on every endpoint, JWT login, actuator behind auth.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2026-07-16T15:35:56Z</dcterms:created>
  <dcterms:modified xsi:type="dcterms:W3CDTF">2026-07-16T15:35:56Z</dcterms:modified>
</cp:coreProperties>
</file>